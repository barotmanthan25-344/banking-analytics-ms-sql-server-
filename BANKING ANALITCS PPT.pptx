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0.xml" ContentType="application/vnd.openxmlformats-officedocument.drawingml.chart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82" r:id="rId2"/>
    <p:sldId id="257" r:id="rId3"/>
    <p:sldId id="28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14"/>
    <p:sldId id="269" r:id="rId15"/>
    <p:sldId id="270" r:id="rId16"/>
    <p:sldId id="271" r:id="rId17"/>
    <p:sldId id="272" r:id="rId18"/>
    <p:sldId id="294" r:id="rId19"/>
    <p:sldId id="293" r:id="rId20"/>
    <p:sldId id="273" r:id="rId21"/>
    <p:sldId id="291" r:id="rId22"/>
    <p:sldId id="275" r:id="rId23"/>
    <p:sldId id="276" r:id="rId24"/>
    <p:sldId id="277" r:id="rId25"/>
    <p:sldId id="278" r:id="rId26"/>
    <p:sldId id="279" r:id="rId27"/>
    <p:sldId id="292" r:id="rId28"/>
    <p:sldId id="280" r:id="rId29"/>
    <p:sldId id="28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4D-4729-A3E0-D7A72911062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4D-4729-A3E0-D7A72911062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4D-4729-A3E0-D7A72911062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4D-4729-A3E0-D7A72911062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C4D-4729-A3E0-D7A72911062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C4D-4729-A3E0-D7A72911062D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C4D-4729-A3E0-D7A72911062D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C4D-4729-A3E0-D7A72911062D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C4D-4729-A3E0-D7A72911062D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C4D-4729-A3E0-D7A72911062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1A252F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Gujarat</c:v>
                </c:pt>
                <c:pt idx="1">
                  <c:v>Uttar Pradesh</c:v>
                </c:pt>
                <c:pt idx="2">
                  <c:v>Maharashtra</c:v>
                </c:pt>
                <c:pt idx="3">
                  <c:v>Madhya Pradesh</c:v>
                </c:pt>
                <c:pt idx="4">
                  <c:v>Karnataka</c:v>
                </c:pt>
                <c:pt idx="5">
                  <c:v>Telangana</c:v>
                </c:pt>
                <c:pt idx="6">
                  <c:v>Andhra Pradesh</c:v>
                </c:pt>
                <c:pt idx="7">
                  <c:v>Delhi</c:v>
                </c:pt>
                <c:pt idx="8">
                  <c:v>Bihar</c:v>
                </c:pt>
                <c:pt idx="9">
                  <c:v>Tamil Nadu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1550</c:v>
                </c:pt>
                <c:pt idx="1">
                  <c:v>1498</c:v>
                </c:pt>
                <c:pt idx="2">
                  <c:v>1481</c:v>
                </c:pt>
                <c:pt idx="3">
                  <c:v>955</c:v>
                </c:pt>
                <c:pt idx="4">
                  <c:v>540</c:v>
                </c:pt>
                <c:pt idx="5">
                  <c:v>540</c:v>
                </c:pt>
                <c:pt idx="6">
                  <c:v>506</c:v>
                </c:pt>
                <c:pt idx="7">
                  <c:v>506</c:v>
                </c:pt>
                <c:pt idx="8">
                  <c:v>505</c:v>
                </c:pt>
                <c:pt idx="9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C4D-4729-A3E0-D7A7291106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A252F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D6D7E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3F4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31186677927075401"/>
          <c:y val="4.6296296296296294E-2"/>
          <c:w val="0.63451937784423673"/>
          <c:h val="0.873831396075490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 (Cr)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9D-4190-A205-2DA922854D6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9D-4190-A205-2DA922854D6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9D-4190-A205-2DA922854D6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9D-4190-A205-2DA922854D6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9D-4190-A205-2DA922854D6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39D-4190-A205-2DA922854D6D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39D-4190-A205-2DA922854D6D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39D-4190-A205-2DA922854D6D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39D-4190-A205-2DA922854D6D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39D-4190-A205-2DA922854D6D}"/>
              </c:ext>
            </c:extLst>
          </c:dPt>
          <c:dLbls>
            <c:numFmt formatCode="#,##0\ \c\r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5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Gujarat</c:v>
                </c:pt>
                <c:pt idx="1">
                  <c:v>Maharashtra</c:v>
                </c:pt>
                <c:pt idx="2">
                  <c:v>Uttar Pradesh</c:v>
                </c:pt>
                <c:pt idx="3">
                  <c:v>Madhya Pradesh</c:v>
                </c:pt>
                <c:pt idx="4">
                  <c:v>Karnataka</c:v>
                </c:pt>
                <c:pt idx="5">
                  <c:v>Bihar</c:v>
                </c:pt>
                <c:pt idx="6">
                  <c:v>Andhra Pradesh</c:v>
                </c:pt>
                <c:pt idx="7">
                  <c:v>Rajasthan</c:v>
                </c:pt>
                <c:pt idx="8">
                  <c:v>Tamil Nadu</c:v>
                </c:pt>
                <c:pt idx="9">
                  <c:v>Delhi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781.9</c:v>
                </c:pt>
                <c:pt idx="1">
                  <c:v>753.6</c:v>
                </c:pt>
                <c:pt idx="2">
                  <c:v>715.1</c:v>
                </c:pt>
                <c:pt idx="3">
                  <c:v>488.4</c:v>
                </c:pt>
                <c:pt idx="4">
                  <c:v>280</c:v>
                </c:pt>
                <c:pt idx="5">
                  <c:v>272.60000000000002</c:v>
                </c:pt>
                <c:pt idx="6">
                  <c:v>270.3</c:v>
                </c:pt>
                <c:pt idx="7">
                  <c:v>267.39999999999998</c:v>
                </c:pt>
                <c:pt idx="8">
                  <c:v>259.60000000000002</c:v>
                </c:pt>
                <c:pt idx="9">
                  <c:v>252.6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39D-4190-A205-2DA922854D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5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Bangalore</c:v>
                </c:pt>
                <c:pt idx="1">
                  <c:v>Hyderabad</c:v>
                </c:pt>
                <c:pt idx="2">
                  <c:v>Surat</c:v>
                </c:pt>
                <c:pt idx="3">
                  <c:v>Vadodara</c:v>
                </c:pt>
                <c:pt idx="4">
                  <c:v>Ghaziabad</c:v>
                </c:pt>
                <c:pt idx="5">
                  <c:v>Pune</c:v>
                </c:pt>
                <c:pt idx="6">
                  <c:v>Delhi</c:v>
                </c:pt>
                <c:pt idx="7">
                  <c:v>Visakhapatnam</c:v>
                </c:pt>
                <c:pt idx="8">
                  <c:v>Patna</c:v>
                </c:pt>
                <c:pt idx="9">
                  <c:v>Chennai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540</c:v>
                </c:pt>
                <c:pt idx="1">
                  <c:v>540</c:v>
                </c:pt>
                <c:pt idx="2">
                  <c:v>535</c:v>
                </c:pt>
                <c:pt idx="3">
                  <c:v>533</c:v>
                </c:pt>
                <c:pt idx="4">
                  <c:v>521</c:v>
                </c:pt>
                <c:pt idx="5">
                  <c:v>520</c:v>
                </c:pt>
                <c:pt idx="6">
                  <c:v>506</c:v>
                </c:pt>
                <c:pt idx="7">
                  <c:v>506</c:v>
                </c:pt>
                <c:pt idx="8">
                  <c:v>505</c:v>
                </c:pt>
                <c:pt idx="9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F-4F10-8B47-BE0E8F3D2C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Credit Score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D4-4303-AC1C-D69129039C8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1D4-4303-AC1C-D69129039C8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1D4-4303-AC1C-D69129039C8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1D4-4303-AC1C-D69129039C8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1D4-4303-AC1C-D69129039C8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1D4-4303-AC1C-D69129039C8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5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Business Loan</c:v>
                </c:pt>
                <c:pt idx="1">
                  <c:v>Car Loan</c:v>
                </c:pt>
                <c:pt idx="2">
                  <c:v>Education Loan</c:v>
                </c:pt>
                <c:pt idx="3">
                  <c:v>Gold Loan</c:v>
                </c:pt>
                <c:pt idx="4">
                  <c:v>Home Loan</c:v>
                </c:pt>
                <c:pt idx="5">
                  <c:v>Personal Loan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598.5</c:v>
                </c:pt>
                <c:pt idx="1">
                  <c:v>599.20000000000005</c:v>
                </c:pt>
                <c:pt idx="2">
                  <c:v>602.6</c:v>
                </c:pt>
                <c:pt idx="3">
                  <c:v>595.1</c:v>
                </c:pt>
                <c:pt idx="4">
                  <c:v>601.79999999999995</c:v>
                </c:pt>
                <c:pt idx="5">
                  <c:v>606.6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1D4-4303-AC1C-D69129039C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15"/>
          <c:min val="58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Income (₹)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Businessman</c:v>
                </c:pt>
                <c:pt idx="1">
                  <c:v>Freelancer</c:v>
                </c:pt>
                <c:pt idx="2">
                  <c:v>Accountant</c:v>
                </c:pt>
                <c:pt idx="3">
                  <c:v>Manager</c:v>
                </c:pt>
                <c:pt idx="4">
                  <c:v>Lawyer</c:v>
                </c:pt>
                <c:pt idx="5">
                  <c:v>Consultant</c:v>
                </c:pt>
                <c:pt idx="6">
                  <c:v>Sales Executive</c:v>
                </c:pt>
                <c:pt idx="7">
                  <c:v>Govt Employee</c:v>
                </c:pt>
                <c:pt idx="8">
                  <c:v>Doctor</c:v>
                </c:pt>
                <c:pt idx="9">
                  <c:v>Software Eng.</c:v>
                </c:pt>
                <c:pt idx="10">
                  <c:v>Teacher</c:v>
                </c:pt>
                <c:pt idx="11">
                  <c:v>Retired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5264201</c:v>
                </c:pt>
                <c:pt idx="1">
                  <c:v>5158912</c:v>
                </c:pt>
                <c:pt idx="2">
                  <c:v>5105280</c:v>
                </c:pt>
                <c:pt idx="3">
                  <c:v>5104366</c:v>
                </c:pt>
                <c:pt idx="4">
                  <c:v>5093548</c:v>
                </c:pt>
                <c:pt idx="5">
                  <c:v>5070145</c:v>
                </c:pt>
                <c:pt idx="6">
                  <c:v>5029446</c:v>
                </c:pt>
                <c:pt idx="7">
                  <c:v>5020176</c:v>
                </c:pt>
                <c:pt idx="8">
                  <c:v>3411274</c:v>
                </c:pt>
                <c:pt idx="9">
                  <c:v>1774145</c:v>
                </c:pt>
                <c:pt idx="10">
                  <c:v>754490</c:v>
                </c:pt>
                <c:pt idx="11">
                  <c:v>676401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CA-4D5F-BA02-304ACB0799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6A0-46DB-B174-5675B2003F98}"/>
              </c:ext>
            </c:extLst>
          </c:dPt>
          <c:dPt>
            <c:idx val="1"/>
            <c:bubble3D val="0"/>
            <c:spPr>
              <a:solidFill>
                <a:srgbClr val="0E66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A0-46DB-B174-5675B2003F98}"/>
              </c:ext>
            </c:extLst>
          </c:dPt>
          <c:dPt>
            <c:idx val="2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A0-46DB-B174-5675B2003F9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6A0-46DB-B174-5675B2003F9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6A0-46DB-B174-5675B2003F9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6A0-46DB-B174-5675B2003F9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Middle Age (30-50)</c:v>
                </c:pt>
                <c:pt idx="1">
                  <c:v>Senior (50+)</c:v>
                </c:pt>
                <c:pt idx="2">
                  <c:v>Young (&lt;30)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4064</c:v>
                </c:pt>
                <c:pt idx="1">
                  <c:v>5018</c:v>
                </c:pt>
                <c:pt idx="2">
                  <c:v>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A0-46DB-B174-5675B2003F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7F-4169-AFF4-8D553084B36A}"/>
              </c:ext>
            </c:extLst>
          </c:dPt>
          <c:dPt>
            <c:idx val="1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7F-4169-AFF4-8D553084B36A}"/>
              </c:ext>
            </c:extLst>
          </c:dPt>
          <c:dPt>
            <c:idx val="2"/>
            <c:bubble3D val="0"/>
            <c:spPr>
              <a:solidFill>
                <a:srgbClr val="0E66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7F-4169-AFF4-8D553084B36A}"/>
              </c:ext>
            </c:extLst>
          </c:dPt>
          <c:dPt>
            <c:idx val="3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57F-4169-AFF4-8D553084B36A}"/>
              </c:ext>
            </c:extLst>
          </c:dPt>
          <c:dPt>
            <c:idx val="4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57F-4169-AFF4-8D553084B36A}"/>
              </c:ext>
            </c:extLst>
          </c:dPt>
          <c:dPt>
            <c:idx val="5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57F-4169-AFF4-8D553084B3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7F-4169-AFF4-8D553084B3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7F-4169-AFF4-8D553084B3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7F-4169-AFF4-8D553084B36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7F-4169-AFF4-8D553084B36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7F-4169-AFF4-8D553084B36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7F-4169-AFF4-8D553084B3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Business Loan</c:v>
                </c:pt>
                <c:pt idx="1">
                  <c:v>Car Loan</c:v>
                </c:pt>
                <c:pt idx="2">
                  <c:v>Education Loan</c:v>
                </c:pt>
                <c:pt idx="3">
                  <c:v>Gold Loan</c:v>
                </c:pt>
                <c:pt idx="4">
                  <c:v>Home Loan</c:v>
                </c:pt>
                <c:pt idx="5">
                  <c:v>Personal Loan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1643</c:v>
                </c:pt>
                <c:pt idx="1">
                  <c:v>1683</c:v>
                </c:pt>
                <c:pt idx="2">
                  <c:v>1676</c:v>
                </c:pt>
                <c:pt idx="3">
                  <c:v>1648</c:v>
                </c:pt>
                <c:pt idx="4">
                  <c:v>1652</c:v>
                </c:pt>
                <c:pt idx="5">
                  <c:v>1698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57F-4169-AFF4-8D553084B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Interest Rate (%)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44-4218-B516-7AC43B1B5B9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B44-4218-B516-7AC43B1B5B9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B44-4218-B516-7AC43B1B5B9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B44-4218-B516-7AC43B1B5B9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B44-4218-B516-7AC43B1B5B9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B44-4218-B516-7AC43B1B5B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5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Business Loan</c:v>
                </c:pt>
                <c:pt idx="1">
                  <c:v>Car Loan</c:v>
                </c:pt>
                <c:pt idx="2">
                  <c:v>Education Loan</c:v>
                </c:pt>
                <c:pt idx="3">
                  <c:v>Gold Loan</c:v>
                </c:pt>
                <c:pt idx="4">
                  <c:v>Home Loan</c:v>
                </c:pt>
                <c:pt idx="5">
                  <c:v>Personal Loan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12.68</c:v>
                </c:pt>
                <c:pt idx="1">
                  <c:v>12.39</c:v>
                </c:pt>
                <c:pt idx="2">
                  <c:v>12.47</c:v>
                </c:pt>
                <c:pt idx="3">
                  <c:v>12.5</c:v>
                </c:pt>
                <c:pt idx="4">
                  <c:v>12.44</c:v>
                </c:pt>
                <c:pt idx="5">
                  <c:v>12.56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B44-4218-B516-7AC43B1B5B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8"/>
          <c:min val="12.2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C9-4CC9-A76F-453226002164}"/>
              </c:ext>
            </c:extLst>
          </c:dPt>
          <c:dPt>
            <c:idx val="1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C9-4CC9-A76F-453226002164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C9-4CC9-A76F-453226002164}"/>
              </c:ext>
            </c:extLst>
          </c:dPt>
          <c:dPt>
            <c:idx val="3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3C9-4CC9-A76F-45322600216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C9-4CC9-A76F-45322600216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C9-4CC9-A76F-45322600216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C9-4CC9-A76F-45322600216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3C9-4CC9-A76F-45322600216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Active</c:v>
                </c:pt>
                <c:pt idx="1">
                  <c:v>Closed</c:v>
                </c:pt>
                <c:pt idx="2">
                  <c:v>Defaulted</c:v>
                </c:pt>
                <c:pt idx="3">
                  <c:v>Under 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2540</c:v>
                </c:pt>
                <c:pt idx="1">
                  <c:v>2546</c:v>
                </c:pt>
                <c:pt idx="2">
                  <c:v>2475</c:v>
                </c:pt>
                <c:pt idx="3">
                  <c:v>2439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3C9-4CC9-A76F-453226002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Sheet1!$A$2:$A$21</c:f>
              <c:strCache>
                <c:ptCount val="20"/>
                <c:pt idx="0">
                  <c:v>State Bank of India</c:v>
                </c:pt>
                <c:pt idx="1">
                  <c:v>HDFC Bank</c:v>
                </c:pt>
                <c:pt idx="2">
                  <c:v>ICICI Bank</c:v>
                </c:pt>
                <c:pt idx="3">
                  <c:v>Punjab National Bank</c:v>
                </c:pt>
                <c:pt idx="4">
                  <c:v>Axis Bank</c:v>
                </c:pt>
                <c:pt idx="5">
                  <c:v>Bank of Baroda</c:v>
                </c:pt>
                <c:pt idx="6">
                  <c:v>Canara Bank</c:v>
                </c:pt>
                <c:pt idx="7">
                  <c:v>Kotak Mahindra Bank</c:v>
                </c:pt>
                <c:pt idx="8">
                  <c:v>IndusInd Bank</c:v>
                </c:pt>
                <c:pt idx="9">
                  <c:v>Union Bank of India</c:v>
                </c:pt>
                <c:pt idx="10">
                  <c:v>Bank of India</c:v>
                </c:pt>
                <c:pt idx="11">
                  <c:v>Yes Bank</c:v>
                </c:pt>
                <c:pt idx="12">
                  <c:v>Federal Bank</c:v>
                </c:pt>
                <c:pt idx="13">
                  <c:v>Indian Bank</c:v>
                </c:pt>
                <c:pt idx="14">
                  <c:v>IDBI Bank</c:v>
                </c:pt>
                <c:pt idx="15">
                  <c:v>Central Bank of India</c:v>
                </c:pt>
                <c:pt idx="16">
                  <c:v>Punjab &amp; Sind Bank</c:v>
                </c:pt>
                <c:pt idx="17">
                  <c:v>IDFC FIRST Bank</c:v>
                </c:pt>
                <c:pt idx="18">
                  <c:v>South Indian Bank</c:v>
                </c:pt>
                <c:pt idx="19">
                  <c:v>RBL Bank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1632</c:v>
                </c:pt>
                <c:pt idx="1">
                  <c:v>1497</c:v>
                </c:pt>
                <c:pt idx="2">
                  <c:v>1259</c:v>
                </c:pt>
                <c:pt idx="3">
                  <c:v>976</c:v>
                </c:pt>
                <c:pt idx="4">
                  <c:v>826</c:v>
                </c:pt>
                <c:pt idx="5">
                  <c:v>674</c:v>
                </c:pt>
                <c:pt idx="6">
                  <c:v>557</c:v>
                </c:pt>
                <c:pt idx="7">
                  <c:v>512</c:v>
                </c:pt>
                <c:pt idx="8">
                  <c:v>342</c:v>
                </c:pt>
                <c:pt idx="9">
                  <c:v>321</c:v>
                </c:pt>
                <c:pt idx="10">
                  <c:v>255</c:v>
                </c:pt>
                <c:pt idx="11">
                  <c:v>247</c:v>
                </c:pt>
                <c:pt idx="12">
                  <c:v>167</c:v>
                </c:pt>
                <c:pt idx="13">
                  <c:v>167</c:v>
                </c:pt>
                <c:pt idx="14">
                  <c:v>167</c:v>
                </c:pt>
                <c:pt idx="15">
                  <c:v>92</c:v>
                </c:pt>
                <c:pt idx="16">
                  <c:v>83</c:v>
                </c:pt>
                <c:pt idx="17">
                  <c:v>77</c:v>
                </c:pt>
                <c:pt idx="18">
                  <c:v>77</c:v>
                </c:pt>
                <c:pt idx="19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A-4D8E-959F-5786ACBE1A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Banks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D4A-409E-B514-BAC87461187F}"/>
              </c:ext>
            </c:extLst>
          </c:dPt>
          <c:dPt>
            <c:idx val="1"/>
            <c:bubble3D val="0"/>
            <c:spPr>
              <a:solidFill>
                <a:srgbClr val="0E66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4A-409E-B514-BAC87461187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0627F7D6-C5A5-40B2-98B2-D7C670391568}" type="CELLRANGE">
                      <a:rPr lang="en-US"/>
                      <a:pPr>
                        <a:defRPr sz="12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numFmt formatCode="0%" sourceLinked="0"/>
              <c:spPr/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6D4A-409E-B514-BAC87461187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8D6ECB0B-0C24-4CB0-80B2-ABBBE0608C27}" type="CELLRANGE">
                      <a:rPr lang="en-US"/>
                      <a:pPr>
                        <a:defRPr sz="12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numFmt formatCode="0%" sourceLinked="0"/>
              <c:spPr/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6D4A-409E-B514-BAC87461187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Private Sector</c:v>
                </c:pt>
                <c:pt idx="1">
                  <c:v>Public Sector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5076</c:v>
                </c:pt>
                <c:pt idx="1">
                  <c:v>4924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Sheet1!$B$2:$B$3</c15:f>
                <c15:dlblRangeCache>
                  <c:ptCount val="2"/>
                  <c:pt idx="0">
                    <c:v>5076</c:v>
                  </c:pt>
                  <c:pt idx="1">
                    <c:v>4924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6D4A-409E-B514-BAC8746118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2F3F4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57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D9EFA59D-D1F6-C210-F145-084A12F9D6D4}"/>
              </a:ext>
            </a:extLst>
          </p:cNvPr>
          <p:cNvSpPr/>
          <p:nvPr/>
        </p:nvSpPr>
        <p:spPr>
          <a:xfrm>
            <a:off x="457200" y="75401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Banking Analytics</a:t>
            </a:r>
            <a:endParaRPr lang="en-US" sz="4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93D0642-88FF-1EA4-5E9D-FC6A8BB491BF}"/>
              </a:ext>
            </a:extLst>
          </p:cNvPr>
          <p:cNvSpPr/>
          <p:nvPr/>
        </p:nvSpPr>
        <p:spPr>
          <a:xfrm>
            <a:off x="457200" y="1752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SQL Query Results Dashboard</a:t>
            </a:r>
            <a:endParaRPr lang="en-US" sz="22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F48DD87-B46A-6D3D-8D0E-77D43B1B0DF0}"/>
              </a:ext>
            </a:extLst>
          </p:cNvPr>
          <p:cNvSpPr/>
          <p:nvPr/>
        </p:nvSpPr>
        <p:spPr>
          <a:xfrm>
            <a:off x="457200" y="2895600"/>
            <a:ext cx="19202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178B5AE-DD18-8127-0089-4514FC560CE2}"/>
              </a:ext>
            </a:extLst>
          </p:cNvPr>
          <p:cNvSpPr/>
          <p:nvPr/>
        </p:nvSpPr>
        <p:spPr>
          <a:xfrm>
            <a:off x="457200" y="2959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₹5,038 Cr</a:t>
            </a:r>
            <a:endParaRPr lang="en-US" sz="20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0FE6BB2-1575-C3EF-76C6-4275E8B9CF2D}"/>
              </a:ext>
            </a:extLst>
          </p:cNvPr>
          <p:cNvSpPr/>
          <p:nvPr/>
        </p:nvSpPr>
        <p:spPr>
          <a:xfrm>
            <a:off x="457200" y="3489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</a:t>
            </a:r>
            <a:endParaRPr lang="en-US" sz="10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2821B3B-5916-B383-BFBC-AC3A27BBA966}"/>
              </a:ext>
            </a:extLst>
          </p:cNvPr>
          <p:cNvSpPr/>
          <p:nvPr/>
        </p:nvSpPr>
        <p:spPr>
          <a:xfrm>
            <a:off x="2560320" y="2895600"/>
            <a:ext cx="19202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AE71614-2E18-0BE8-E42F-33D02D47A2AA}"/>
              </a:ext>
            </a:extLst>
          </p:cNvPr>
          <p:cNvSpPr/>
          <p:nvPr/>
        </p:nvSpPr>
        <p:spPr>
          <a:xfrm>
            <a:off x="2560320" y="2959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0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1327FA1-65AA-DF65-04AE-60D7EAD0E987}"/>
              </a:ext>
            </a:extLst>
          </p:cNvPr>
          <p:cNvSpPr/>
          <p:nvPr/>
        </p:nvSpPr>
        <p:spPr>
          <a:xfrm>
            <a:off x="2560320" y="3489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DA35624-62D0-7B52-AC63-ED424F057412}"/>
              </a:ext>
            </a:extLst>
          </p:cNvPr>
          <p:cNvSpPr/>
          <p:nvPr/>
        </p:nvSpPr>
        <p:spPr>
          <a:xfrm>
            <a:off x="4663440" y="2895600"/>
            <a:ext cx="19202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64331A6F-F10B-B6F2-A3EE-2B66C0E24172}"/>
              </a:ext>
            </a:extLst>
          </p:cNvPr>
          <p:cNvSpPr/>
          <p:nvPr/>
        </p:nvSpPr>
        <p:spPr>
          <a:xfrm>
            <a:off x="4663440" y="2959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601.3</a:t>
            </a:r>
            <a:endParaRPr lang="en-US" sz="20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2365E39E-9085-2EB8-D58A-7B4809D915E6}"/>
              </a:ext>
            </a:extLst>
          </p:cNvPr>
          <p:cNvSpPr/>
          <p:nvPr/>
        </p:nvSpPr>
        <p:spPr>
          <a:xfrm>
            <a:off x="4663440" y="3489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10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79765FB-E033-92EC-285F-4180BD7CB187}"/>
              </a:ext>
            </a:extLst>
          </p:cNvPr>
          <p:cNvSpPr/>
          <p:nvPr/>
        </p:nvSpPr>
        <p:spPr>
          <a:xfrm>
            <a:off x="6766560" y="2895600"/>
            <a:ext cx="19202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3432CBE-D23A-7DD5-B671-7AE5E0DC8F56}"/>
              </a:ext>
            </a:extLst>
          </p:cNvPr>
          <p:cNvSpPr/>
          <p:nvPr/>
        </p:nvSpPr>
        <p:spPr>
          <a:xfrm>
            <a:off x="6766560" y="2959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20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59799659-4A35-AC5D-A543-59A36820B121}"/>
              </a:ext>
            </a:extLst>
          </p:cNvPr>
          <p:cNvSpPr/>
          <p:nvPr/>
        </p:nvSpPr>
        <p:spPr>
          <a:xfrm>
            <a:off x="6766560" y="3489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KYC Verified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8512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analytical sections — SQL query outputs from 10,000 customers &amp; 10,000 loans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783080"/>
            <a:ext cx="731520" cy="7315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&amp; Demographics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Q1–Q22: Gender, age, income, credit health, geography, account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783080"/>
            <a:ext cx="731520" cy="731520"/>
          </a:xfrm>
          <a:prstGeom prst="ellipse">
            <a:avLst/>
          </a:prstGeom>
          <a:solidFill>
            <a:srgbClr val="0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&amp; 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290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Q23–Q30: Loan types, interest rates, EMI, status, outstanding balance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78308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Banks &amp; Strategic Insights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4290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Q31–Q45: NPA, high-risk, bank intelligence, premium customers, state leaders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D1B2A88B-1710-61FE-AC5C-5E5724CFFDD9}"/>
              </a:ext>
            </a:extLst>
          </p:cNvPr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7336B5C-9CF8-DA65-DEB8-55116D373F4E}"/>
              </a:ext>
            </a:extLst>
          </p:cNvPr>
          <p:cNvSpPr/>
          <p:nvPr/>
        </p:nvSpPr>
        <p:spPr>
          <a:xfrm>
            <a:off x="731520" y="19202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&amp;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32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031F334-D856-CCF5-7886-EE52B3EFF0CE}"/>
              </a:ext>
            </a:extLst>
          </p:cNvPr>
          <p:cNvSpPr/>
          <p:nvPr/>
        </p:nvSpPr>
        <p:spPr>
          <a:xfrm>
            <a:off x="73152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Q1–Q22: Who are our customers? Gender, income, credit health, geography.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7568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Overview  —  Q1, Q2, Q10, Q11, Q13, Q14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headline metrics across the customer base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265176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73402"/>
            <a:ext cx="24688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Total 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216152"/>
            <a:ext cx="265176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5,062 M 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073402"/>
            <a:ext cx="24688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Gender Split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216152"/>
            <a:ext cx="265176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601.3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073402"/>
            <a:ext cx="24688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Avg Credit Score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136392"/>
            <a:ext cx="265176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51.1%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3993642"/>
            <a:ext cx="24688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Q11: Credit Card Holders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30632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54680" y="3136392"/>
            <a:ext cx="265176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2,508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46120" y="3993642"/>
            <a:ext cx="24688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Q13: High Credit Score (&gt;750)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30632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89320" y="3136392"/>
            <a:ext cx="265176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80760" y="3993642"/>
            <a:ext cx="24688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Q14: KYC Verified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  —  Q3, Q4, Q7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by gender, total balances, income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₹3,156 Cr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Total Account Balance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7043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₹39,36,599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Avg Annual Income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6517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Loan Portfolio by Gender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888919"/>
              </p:ext>
            </p:extLst>
          </p:nvPr>
        </p:nvGraphicFramePr>
        <p:xfrm>
          <a:off x="320040" y="3063240"/>
          <a:ext cx="8503920" cy="1280160"/>
        </p:xfrm>
        <a:graphic>
          <a:graphicData uri="http://schemas.openxmlformats.org/drawingml/2006/table">
            <a:tbl>
              <a:tblPr/>
              <a:tblGrid>
                <a:gridCol w="425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Loan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₹2,487.09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₹2,550.78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by State  —  Q5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customer base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049011828"/>
              </p:ext>
            </p:extLst>
          </p:nvPr>
        </p:nvGraphicFramePr>
        <p:xfrm>
          <a:off x="365760" y="1051560"/>
          <a:ext cx="7723163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Amount by State  —  Q6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total loan disbursement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06441150"/>
              </p:ext>
            </p:extLst>
          </p:nvPr>
        </p:nvGraphicFramePr>
        <p:xfrm>
          <a:off x="365760" y="1051560"/>
          <a:ext cx="7406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Customer Count  —  Q8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with the highest number of bank customers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89316665"/>
              </p:ext>
            </p:extLst>
          </p:nvPr>
        </p:nvGraphicFramePr>
        <p:xfrm>
          <a:off x="365760" y="1051560"/>
          <a:ext cx="7673925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 by Loan Type  —  Q9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credit score for each loan category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637300597"/>
              </p:ext>
            </p:extLst>
          </p:nvPr>
        </p:nvGraphicFramePr>
        <p:xfrm>
          <a:off x="365760" y="1051560"/>
          <a:ext cx="4750526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38217FC-BDCB-5D80-8920-5782B7F78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80531"/>
              </p:ext>
            </p:extLst>
          </p:nvPr>
        </p:nvGraphicFramePr>
        <p:xfrm>
          <a:off x="5394960" y="1371600"/>
          <a:ext cx="347472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Borrower &amp; High-Risk Customers  —  Q12, Q15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individual loan and high-risk count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Q12: Top Customer by Loan Amount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Singh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₹13.15 Cr total loans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Q15: High-Risk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1,100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2311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&lt; 600 AND NPA Flag = Yes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Q17: Average Balance by Account Type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93008"/>
          <a:ext cx="8412480" cy="153924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₹31,43,677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Deposit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₹32,40,561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Deposit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₹31,42,141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₹31,55,414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₹30,97,882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Income by Occupation  —  Q20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annual income across different job categories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79156410"/>
              </p:ext>
            </p:extLst>
          </p:nvPr>
        </p:nvGraphicFramePr>
        <p:xfrm>
          <a:off x="365760" y="105156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Group Distribution  —  Q22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customers by age segment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45720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1430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03520" y="1216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Young (&lt;30)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16184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customers  (9.2%)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2080" y="23774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03520" y="24505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Middle Age (30-50)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28529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4,064 customers  (40.6%)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12080" y="36118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03520" y="3685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(50+)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40873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5,018 customers  (50.2%)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5D9887D1-AE9E-650F-5A64-F75A333AE1D5}"/>
              </a:ext>
            </a:extLst>
          </p:cNvPr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21D12E12-78DB-534E-FC42-6F1AF31B051D}"/>
              </a:ext>
            </a:extLst>
          </p:cNvPr>
          <p:cNvSpPr/>
          <p:nvPr/>
        </p:nvSpPr>
        <p:spPr>
          <a:xfrm>
            <a:off x="731520" y="19202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36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B2FDBD2-3FC4-D029-98CB-EF25074C26C8}"/>
              </a:ext>
            </a:extLst>
          </p:cNvPr>
          <p:cNvSpPr/>
          <p:nvPr/>
        </p:nvSpPr>
        <p:spPr>
          <a:xfrm>
            <a:off x="73152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Q23–Q30: Disbursements, EMI, interest rates, loan status.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05548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Highlights  —  Q16, Q19, Q21, Q27, Q29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financial metrics across 10,000 loans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₹5,038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2369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Q16: Total Loan Disbursed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21615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₹50,37,867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369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Q19: Average Loan Amount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21615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₹2,484 Cr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12369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Q21: Total Outstanding Balance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22783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₹153 Cr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413537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Q27: Total EMI Amount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3154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54680" y="322783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5.09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46120" y="413537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Q29: Avg Late Payments / Loan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Count by Loan Type  —  Q23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loans across each loan category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47548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65305"/>
              </p:ext>
            </p:extLst>
          </p:nvPr>
        </p:nvGraphicFramePr>
        <p:xfrm>
          <a:off x="5394960" y="1371600"/>
          <a:ext cx="347472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Interest Rate by Loan Type  —  Q25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interest rates across loan categories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3090472"/>
              </p:ext>
            </p:extLst>
          </p:nvPr>
        </p:nvGraphicFramePr>
        <p:xfrm>
          <a:off x="365760" y="105156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519849"/>
              </p:ext>
            </p:extLst>
          </p:nvPr>
        </p:nvGraphicFramePr>
        <p:xfrm>
          <a:off x="5852160" y="1690188"/>
          <a:ext cx="3017520" cy="274320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Distribution  —  Q28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loans by current status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207008"/>
            <a:ext cx="640080" cy="6400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920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1207008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920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2514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85232" y="1207008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20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2514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0972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34072" y="1207008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920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2514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2375208733"/>
              </p:ext>
            </p:extLst>
          </p:nvPr>
        </p:nvGraphicFramePr>
        <p:xfrm>
          <a:off x="2179320" y="3017520"/>
          <a:ext cx="46482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8BAFA89B-3DCF-00E2-FD8B-CC8B8C4BE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08292"/>
              </p:ext>
            </p:extLst>
          </p:nvPr>
        </p:nvGraphicFramePr>
        <p:xfrm>
          <a:off x="548640" y="1105360"/>
          <a:ext cx="8046720" cy="293277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885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Bank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Customer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Total Loan ₹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750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PNB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Emma Johnson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73,318,460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SBI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Vihaan Rao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64,559,328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HDFC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William Jones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62,158,706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ICICI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Aarav Reddy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61,075,633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Canara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Aditya Patel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48,452,656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Kotak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Aarav Garcia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44,087,516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Axis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Isabella Nair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40,261,641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IndusInd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Ava Nair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36,749,524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IDBI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Aarav Malhotra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32,704,744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BOB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Aditya Chopra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32,684,421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9BD23-DDBA-8DAA-E217-FD6B811CE2DB}"/>
              </a:ext>
            </a:extLst>
          </p:cNvPr>
          <p:cNvSpPr txBox="1"/>
          <p:nvPr/>
        </p:nvSpPr>
        <p:spPr>
          <a:xfrm>
            <a:off x="2286000" y="4237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Q30 – Top Borrower in Every Bank (Top 10)</a:t>
            </a:r>
          </a:p>
        </p:txBody>
      </p:sp>
    </p:spTree>
    <p:extLst>
      <p:ext uri="{BB962C8B-B14F-4D97-AF65-F5344CB8AC3E}">
        <p14:creationId xmlns:p14="http://schemas.microsoft.com/office/powerpoint/2010/main" val="3037279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E08E73B1-645F-4373-B737-80D3D561A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31984"/>
              </p:ext>
            </p:extLst>
          </p:nvPr>
        </p:nvGraphicFramePr>
        <p:xfrm>
          <a:off x="1849901" y="1474693"/>
          <a:ext cx="5458265" cy="2932779"/>
        </p:xfrm>
        <a:graphic>
          <a:graphicData uri="http://schemas.openxmlformats.org/drawingml/2006/table">
            <a:tbl>
              <a:tblPr/>
              <a:tblGrid>
                <a:gridCol w="25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885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Customer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Ratio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750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Mohit Jones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166.85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Ava Nair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133.17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Vijay Mishra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128.16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Preeti Sharma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116.77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Vihaan Shah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108.68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Vivaan Rao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108.52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Vihaan Mishra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95.80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Kiran Garcia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95.51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John Mehta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91.10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9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Vivaan Patel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89.29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4B6869-2B0F-208F-914C-8A93A73632F2}"/>
              </a:ext>
            </a:extLst>
          </p:cNvPr>
          <p:cNvSpPr txBox="1"/>
          <p:nvPr/>
        </p:nvSpPr>
        <p:spPr>
          <a:xfrm>
            <a:off x="2043332" y="736028"/>
            <a:ext cx="5057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Q18 – Loan-to-Income Ratio (Top 10 Customers)</a:t>
            </a:r>
          </a:p>
        </p:txBody>
      </p:sp>
    </p:spTree>
    <p:extLst>
      <p:ext uri="{BB962C8B-B14F-4D97-AF65-F5344CB8AC3E}">
        <p14:creationId xmlns:p14="http://schemas.microsoft.com/office/powerpoint/2010/main" val="1220539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Customer Segments  —  Q39, Q41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multiple loans and customers without any loan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8620" y="1031045"/>
            <a:ext cx="4114800" cy="2029969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7180" y="1076647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2,633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88618" y="199327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Q39: Customers with Multiple Loans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" y="2475679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 of all borrowers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6953"/>
            <a:ext cx="4114800" cy="2004061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0582" y="1108886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3,686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800602" y="199327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Q41: Customers Without Any Loan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06107" y="24712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36.9% of customer 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" y="3109779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Q40: Average Loan Amount by State (Top 10)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45431"/>
              </p:ext>
            </p:extLst>
          </p:nvPr>
        </p:nvGraphicFramePr>
        <p:xfrm>
          <a:off x="388620" y="3525833"/>
          <a:ext cx="4114800" cy="1386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₹54,91,189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₹51,66,262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₹51,53,152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Gujarat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₹51,50,842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Rajasthan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₹51,13,526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90509"/>
              </p:ext>
            </p:extLst>
          </p:nvPr>
        </p:nvGraphicFramePr>
        <p:xfrm>
          <a:off x="4663440" y="3525833"/>
          <a:ext cx="4114800" cy="1386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₹50,42,742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₹50,20,932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₹50,00,436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₹49,67,950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Madhya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₹49,48,621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A17B3BFE-241B-5E09-98E0-6F8EC142C5E1}"/>
              </a:ext>
            </a:extLst>
          </p:cNvPr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8F0C6A8-9A43-2391-CD8E-3687F847DC7A}"/>
              </a:ext>
            </a:extLst>
          </p:cNvPr>
          <p:cNvSpPr/>
          <p:nvPr/>
        </p:nvSpPr>
        <p:spPr>
          <a:xfrm>
            <a:off x="731520" y="19202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Risk, Banks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</a:t>
            </a:r>
            <a:endParaRPr lang="en-US" sz="36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6BC5549-E7CF-DD06-E3EF-7AB7C940B901}"/>
              </a:ext>
            </a:extLst>
          </p:cNvPr>
          <p:cNvSpPr/>
          <p:nvPr/>
        </p:nvSpPr>
        <p:spPr>
          <a:xfrm>
            <a:off x="73152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Q31–Q45: NPA exposure, bank intelligence, premium customers, state analytics.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1202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Premium Metrics  —  Q26, Q31, Q32, Q37, Q42, Q44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rates, high exposure, premium segments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2369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Q26: NPA Percentage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21615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1,750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369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Q31: Premium Customers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21615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5,532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12369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Q32: High Exposure (Loan &gt;₹20L)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22783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601.4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413537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Q37: Avg Credit Score (NPA)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3154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54680" y="322783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4,936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46120" y="413537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Q42: High Net Worth Customers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31546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89320" y="3227832"/>
            <a:ext cx="265176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1,100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80760" y="4135374"/>
            <a:ext cx="2468880" cy="748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Q44: High-Risk Customers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by Bank  —  Q24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banks ranked by customer base size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75213994"/>
              </p:ext>
            </p:extLst>
          </p:nvPr>
        </p:nvGraphicFramePr>
        <p:xfrm>
          <a:off x="365760" y="1051560"/>
          <a:ext cx="5029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51560"/>
          <a:ext cx="3337560" cy="3886201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Bank of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 National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of Baroda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Canara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Mahindra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IndusInd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Bank of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Intelligence  —  Q33, Q34, Q35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leader, premium customers by bank, bank type performance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18872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Q33: Market Leader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Bank of India  —  1,632 customers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Q35: Bank Type Performance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321495827"/>
              </p:ext>
            </p:extLst>
          </p:nvPr>
        </p:nvGraphicFramePr>
        <p:xfrm>
          <a:off x="182880" y="269748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0" y="22627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Q34: Premium Customers by Bank (Top 10)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190188"/>
              </p:ext>
            </p:extLst>
          </p:nvPr>
        </p:nvGraphicFramePr>
        <p:xfrm>
          <a:off x="4572000" y="2596896"/>
          <a:ext cx="4206240" cy="2467140"/>
        </p:xfrm>
        <a:graphic>
          <a:graphicData uri="http://schemas.openxmlformats.org/drawingml/2006/table">
            <a:tbl>
              <a:tblPr/>
              <a:tblGrid>
                <a:gridCol w="2894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Bank of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 National 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Canara 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of Baroda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Mahindra 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IndusInd 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0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Bank of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Segments  —  Q36, Q42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occupation by loan and high net worth customers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927274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Q36: Top Occupation by Loan Amount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8179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7685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₹457.8 Cr Total Loans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aggregate borrowing among all occupations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927274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Q42: High Net Worth 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76517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4,936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937760" y="2271229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Income &gt; ₹25L &amp; Balance &gt; ₹10L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5645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 of entire customer base qualifies as HNW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76485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Q43: Top Loan Customer in Every State (Top 10)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012144"/>
              </p:ext>
            </p:extLst>
          </p:nvPr>
        </p:nvGraphicFramePr>
        <p:xfrm>
          <a:off x="457200" y="3542948"/>
          <a:ext cx="4114800" cy="1386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0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Borrower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 Kumar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₹5.95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 Bhat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₹5.12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Gujarat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Joshi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₹5.03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Madhya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Vihaan Patel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3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Vihaan Rao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₹4.87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96737"/>
              </p:ext>
            </p:extLst>
          </p:nvPr>
        </p:nvGraphicFramePr>
        <p:xfrm>
          <a:off x="4663440" y="3542948"/>
          <a:ext cx="4114800" cy="1386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Borrower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Telangana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Rao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₹4.73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Chopra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₹4.60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 Pandey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₹4.13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 Shah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₹3.85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Olivia Joshi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₹3.77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Loan Type in Every State  —  Q45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loan category per state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3926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Loan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Gujarat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Madhya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Rajasthan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Telangana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280C0CD-D4B8-006B-78A5-9AD748055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260534"/>
              </p:ext>
            </p:extLst>
          </p:nvPr>
        </p:nvGraphicFramePr>
        <p:xfrm>
          <a:off x="2057400" y="1885070"/>
          <a:ext cx="5029199" cy="1828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736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Classification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Count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%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736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Standard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8096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80.96%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736">
                <a:tc>
                  <a:txBody>
                    <a:bodyPr/>
                    <a:lstStyle/>
                    <a:p>
                      <a:pPr algn="ctr"/>
                      <a:r>
                        <a:t>Sub-standard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688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6.88%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736">
                <a:tc>
                  <a:txBody>
                    <a:bodyPr/>
                    <a:lstStyle/>
                    <a:p>
                      <a:pPr algn="ctr"/>
                      <a:r>
                        <a:t>Doubtful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551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5.51%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736">
                <a:tc>
                  <a:txBody>
                    <a:bodyPr/>
                    <a:lstStyle/>
                    <a:p>
                      <a:pPr algn="ctr"/>
                      <a:r>
                        <a:t>Loss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665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6.65%</a:t>
                      </a: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7A3B2E-BEBB-09F9-348C-1DA199F80029}"/>
              </a:ext>
            </a:extLst>
          </p:cNvPr>
          <p:cNvSpPr txBox="1"/>
          <p:nvPr/>
        </p:nvSpPr>
        <p:spPr>
          <a:xfrm>
            <a:off x="2286000" y="11215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Q38 – RBI Classification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95047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444752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6093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customers · 85.4% KYC · Senior segment (50%+) dominates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0328" y="1444752"/>
            <a:ext cx="457200" cy="457200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10" name="Text 8"/>
          <p:cNvSpPr/>
          <p:nvPr/>
        </p:nvSpPr>
        <p:spPr>
          <a:xfrm>
            <a:off x="5458968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Opportunity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58968" y="16093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4,936 HNW + 1,750 premium customers for wealth management cross-sell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770632"/>
            <a:ext cx="457200" cy="457200"/>
          </a:xfrm>
          <a:prstGeom prst="ellipse">
            <a:avLst/>
          </a:prstGeom>
          <a:solidFill>
            <a:srgbClr val="0E6655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Loan Book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8408" y="29352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₹5,038 Cr across 6 equal loan types · Business loans highest rate (12.68%)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0328" y="27706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58968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Alert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29352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 NPA rate critical · 1,100 high-risk customers need remediation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4096512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Leadership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42611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leads with 1,632 customers · Private &amp; Public sectors near-equal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409651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5458968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Health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58968" y="42611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601.3 below prime threshold · Credit-building can unlock upgrades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Analytics Dashboard  ·  SQL Query 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64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₹5,038 Cr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364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364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4,936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HNW Customers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364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1425</Words>
  <Application>Microsoft Office PowerPoint</Application>
  <PresentationFormat>On-screen Show (16:9)</PresentationFormat>
  <Paragraphs>488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Analytics Dashboard - SQL Results</dc:title>
  <dc:subject>PptxGenJS Presentation</dc:subject>
  <dc:creator>PptxGenJS</dc:creator>
  <cp:lastModifiedBy>Parth Malaviya</cp:lastModifiedBy>
  <cp:revision>6</cp:revision>
  <dcterms:created xsi:type="dcterms:W3CDTF">2026-06-10T05:12:06Z</dcterms:created>
  <dcterms:modified xsi:type="dcterms:W3CDTF">2026-06-11T03:00:23Z</dcterms:modified>
</cp:coreProperties>
</file>